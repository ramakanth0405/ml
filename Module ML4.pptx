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418CC-E189-40DB-1B8F-073FB17B8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F7B3B-B13C-CD42-2775-89C29172A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7750E-1665-5FE0-CC85-3C73AB0D6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60D5-9212-4858-8CBB-4D345AE6253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80432-8916-7146-7D42-21943D12E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9182F-82BD-EDF7-78A5-565213627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7B48F-A1A1-4C08-BBBA-E8218171B6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692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8FC1B-CC6A-F513-48C3-CBAAAE261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E5037-2716-0526-69EB-D5A9898A2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38E0E-EED6-C730-06AE-B4243532B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60D5-9212-4858-8CBB-4D345AE6253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5BA2C-E45A-98CE-D2D9-84B0C7C0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15332-EBFB-4EE3-25AA-57D08AC11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7B48F-A1A1-4C08-BBBA-E8218171B6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816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4965D-7813-87C1-87CF-0DC4D11BC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C95A64-48A2-9A8F-A246-740FE4067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10C2-03DF-F4BB-DB88-456E0309F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60D5-9212-4858-8CBB-4D345AE6253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B1F44-5923-4B9B-1F8B-03D167598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16987-9CDE-943F-C077-95F83C46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7B48F-A1A1-4C08-BBBA-E8218171B6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435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30B7E-8163-A7EB-9CCE-127414ED3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B777D-8C73-4F69-613B-3BE1B5BE4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33A4DF-8BCD-7E8B-CE1A-66D1E880A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AC939-B7F2-6F8B-3138-DEFE4E183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60D5-9212-4858-8CBB-4D345AE6253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3A387-5F4C-BDE3-1143-6159E078C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92A2D-4223-BEB2-45D5-D19571C78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7B48F-A1A1-4C08-BBBA-E8218171B6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432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628F1-3658-B315-9F17-803077AF2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3C5C1-8703-E8D8-2631-439757205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77A13F-679C-F8AC-2B37-12E3484AA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BE7DF-938A-4397-44F3-11D3D22110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260A3D-FA80-E65B-9BD4-4ECD74289F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FDA6B2-3BB9-887E-664E-3F53E1C6B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60D5-9212-4858-8CBB-4D345AE6253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A5B3D6-4A25-59E3-ADCB-91CC9E38A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EE4793-9F16-35E3-6DEB-1C8B39574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7B48F-A1A1-4C08-BBBA-E8218171B6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900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35995-659F-007F-DAD8-BB15C515B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E2D1B-E527-01D3-B835-5C1516A7E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60D5-9212-4858-8CBB-4D345AE6253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80AF61-7DAF-9459-7307-03DB81E91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12463A-FECC-CE40-10AA-974D58262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7B48F-A1A1-4C08-BBBA-E8218171B6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987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15B277-21BF-1E2D-0C7C-0154EEFBB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60D5-9212-4858-8CBB-4D345AE6253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CE7D9B-C336-E8E5-69D8-53EF3F91E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867EA-7B49-C436-E0C1-08FB2A7E3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7B48F-A1A1-4C08-BBBA-E8218171B6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079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8362-3340-D003-E7CA-D2C138BE0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65476-93C8-C430-C126-600C0F054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28BFF-10F8-B21D-520E-56CC0B3A8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74408-8952-7E7F-974B-FF1EF67C8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60D5-9212-4858-8CBB-4D345AE6253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17F1E-CA7E-B9AD-261D-14AB40C82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76B22-5A3A-8172-B2ED-ECFBCD994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7B48F-A1A1-4C08-BBBA-E8218171B6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209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F66CC-1C71-3BBE-6274-95386A6E6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3801D9-A582-C33F-6185-F7B09FC543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AE07C7-107B-6665-0B41-5E0AB8496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43314-617A-BF75-0698-966F6244E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60D5-9212-4858-8CBB-4D345AE6253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C8008-0F49-6CC3-BAD3-7EF8F6B5A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7A716-A6F7-AFF6-8F00-60435441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7B48F-A1A1-4C08-BBBA-E8218171B6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87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1C67F-A027-18A2-8DEC-48864EB3D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25B228-2A38-C4D0-0CE4-7DDE228F0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DFD8F-41F0-57B2-5A66-737AE8ED0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60D5-9212-4858-8CBB-4D345AE6253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1186A-DA80-97DE-A0EF-3DE3271DC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46DFD-860A-D09E-B35D-19F981F1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7B48F-A1A1-4C08-BBBA-E8218171B6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645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AB86E0-D984-6F35-3F22-A0015120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093195-8BC7-2552-DE5E-B3ADD4A25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10DF6-FFF4-B3F3-248D-F2781013F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60D5-9212-4858-8CBB-4D345AE6253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96274-567D-E6B7-9430-E0172FA5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0A8C5-372B-57CD-A3B3-EBDBA2308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7B48F-A1A1-4C08-BBBA-E8218171B6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01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C4ACF6-9795-D94A-5FF4-0201117ED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9D65A-EBFC-369C-702D-696A358EB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84EB2-A58F-08E5-6591-6BFC86CAC0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EB60D5-9212-4858-8CBB-4D345AE6253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D5099-F16E-6C03-CB4D-9FD48E3B2C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A3FCD-1728-F040-B8EA-A7AFB25A8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7B48F-A1A1-4C08-BBBA-E8218171B6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952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998CD-6ACD-A3CD-08A7-0EF0DBFB2D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0F71D-20B3-5854-25A7-44725B0B2B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3F08A8-63FB-6FB9-3ACC-9C69302986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664" y="539002"/>
            <a:ext cx="7165982" cy="543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556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0967A-7C00-A465-B9F3-8C1B9AC62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Adaline = Adaptive Linear Neuron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9F33B-AF0B-9B92-2747-8B07ACF58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 </a:t>
            </a:r>
            <a:r>
              <a:rPr lang="en-US" b="1" dirty="0"/>
              <a:t>simple artificial neuron/neural network model</a:t>
            </a:r>
            <a:r>
              <a:rPr lang="en-US" dirty="0"/>
              <a:t> that learns from examples by </a:t>
            </a:r>
            <a:r>
              <a:rPr lang="en-US" b="1" dirty="0"/>
              <a:t>changing its weights</a:t>
            </a:r>
            <a:r>
              <a:rPr lang="en-US" dirty="0"/>
              <a:t>.</a:t>
            </a:r>
          </a:p>
          <a:p>
            <a:r>
              <a:rPr lang="en-US" dirty="0"/>
              <a:t>Think of it like a small calculator: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Adaptive</a:t>
            </a:r>
            <a:r>
              <a:rPr lang="en-US" dirty="0"/>
              <a:t> means it </a:t>
            </a:r>
            <a:r>
              <a:rPr lang="en-US" b="1" dirty="0"/>
              <a:t>learns by adjusting its weights</a:t>
            </a:r>
            <a:r>
              <a:rPr lang="en-US" dirty="0"/>
              <a:t> based on the error.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1356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B1B6E-9A50-627F-AC51-79F28B814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Adaline Training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03793-6416-B248-AB45-88688FFD8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023" y="1489435"/>
            <a:ext cx="10712777" cy="4687528"/>
          </a:xfrm>
        </p:spPr>
        <p:txBody>
          <a:bodyPr>
            <a:normAutofit/>
          </a:bodyPr>
          <a:lstStyle/>
          <a:p>
            <a:r>
              <a:rPr lang="en-US" dirty="0"/>
              <a:t>Take input → Calculate output → Find error → Change weights → Repeat → Stop when weight changes become very small.</a:t>
            </a:r>
          </a:p>
          <a:p>
            <a:pPr marL="0" indent="0">
              <a:buNone/>
            </a:pPr>
            <a:r>
              <a:rPr lang="en-US" b="1" dirty="0"/>
              <a:t>Step 0 – Set weights, bias and learning rate</a:t>
            </a:r>
          </a:p>
          <a:p>
            <a:r>
              <a:rPr lang="en-US" dirty="0"/>
              <a:t>First, we give some initial values to the </a:t>
            </a:r>
            <a:r>
              <a:rPr lang="en-US" b="1" dirty="0"/>
              <a:t>weights and bias</a:t>
            </a:r>
            <a:r>
              <a:rPr lang="en-US" dirty="0"/>
              <a:t>.</a:t>
            </a:r>
          </a:p>
          <a:p>
            <a:r>
              <a:rPr lang="en-US" dirty="0"/>
              <a:t>They should be random values and </a:t>
            </a:r>
            <a:r>
              <a:rPr lang="en-US" b="1" dirty="0"/>
              <a:t>not zero</a:t>
            </a:r>
            <a:r>
              <a:rPr lang="en-US" dirty="0"/>
              <a:t>.</a:t>
            </a:r>
          </a:p>
          <a:p>
            <a:r>
              <a:rPr lang="en-US" dirty="0"/>
              <a:t>For example:</a:t>
            </a:r>
          </a:p>
          <a:p>
            <a:r>
              <a:rPr lang="en-US" dirty="0"/>
              <a:t>W1​=0.2,	W2​=0.3 		b=0.1 </a:t>
            </a:r>
          </a:p>
          <a:p>
            <a:r>
              <a:rPr lang="en-US" dirty="0"/>
              <a:t>We also set the learning rate:</a:t>
            </a:r>
          </a:p>
          <a:p>
            <a:r>
              <a:rPr lang="en-US" dirty="0"/>
              <a:t>α=0.1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7553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2875A-73BB-6D0D-84A2-EEC849964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CC403-A277-1A42-BE93-24005216F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a weight?</a:t>
            </a:r>
          </a:p>
          <a:p>
            <a:pPr marL="0" indent="0">
              <a:buNone/>
            </a:pPr>
            <a:r>
              <a:rPr lang="en-US" b="1" dirty="0"/>
              <a:t>Weight = importance given to an input.</a:t>
            </a:r>
            <a:endParaRPr lang="en-US" dirty="0"/>
          </a:p>
          <a:p>
            <a:r>
              <a:rPr lang="en-US" b="1" dirty="0"/>
              <a:t>What is learning rate?</a:t>
            </a:r>
          </a:p>
          <a:p>
            <a:pPr marL="0" indent="0">
              <a:buNone/>
            </a:pPr>
            <a:r>
              <a:rPr lang="en-US" b="1" dirty="0"/>
              <a:t>Learning rate tells how much the weight should change during learning.</a:t>
            </a:r>
            <a:endParaRPr lang="en-US" dirty="0"/>
          </a:p>
          <a:p>
            <a:r>
              <a:rPr lang="en-US" dirty="0"/>
              <a:t> the learning rate can be between </a:t>
            </a:r>
            <a:r>
              <a:rPr lang="en-US" b="1" dirty="0"/>
              <a:t>0.1 and 1.0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782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9684B-4062-54BC-09D3-10CC32CDF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 – Check the stopping condition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6031D-CCC3-4462-8432-25F4D4E63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algorithm says:</a:t>
            </a:r>
          </a:p>
          <a:p>
            <a:pPr marL="0" indent="0">
              <a:buNone/>
            </a:pPr>
            <a:r>
              <a:rPr lang="en-US" dirty="0"/>
              <a:t>Perform Steps 2–6 when the stopping condition is false.</a:t>
            </a:r>
          </a:p>
          <a:p>
            <a:pPr marL="0" indent="0">
              <a:buNone/>
            </a:pPr>
            <a:r>
              <a:rPr lang="en-US" dirty="0"/>
              <a:t>If training is not finished, continue training.</a:t>
            </a:r>
          </a:p>
          <a:p>
            <a:pPr marL="0" indent="0">
              <a:buNone/>
            </a:pPr>
            <a:r>
              <a:rPr lang="en-US" dirty="0"/>
              <a:t>Stopping condition?</a:t>
            </a:r>
          </a:p>
          <a:p>
            <a:pPr marL="0" indent="0">
              <a:buNone/>
            </a:pPr>
            <a:r>
              <a:rPr lang="en-US" dirty="0"/>
              <a:t>       ↓</a:t>
            </a:r>
          </a:p>
          <a:p>
            <a:pPr marL="0" indent="0">
              <a:buNone/>
            </a:pPr>
            <a:r>
              <a:rPr lang="en-US" dirty="0"/>
              <a:t>     FALSE</a:t>
            </a:r>
          </a:p>
          <a:p>
            <a:pPr marL="0" indent="0">
              <a:buNone/>
            </a:pPr>
            <a:r>
              <a:rPr lang="en-US" dirty="0"/>
              <a:t>       ↓</a:t>
            </a:r>
          </a:p>
          <a:p>
            <a:pPr marL="0" indent="0">
              <a:buNone/>
            </a:pPr>
            <a:r>
              <a:rPr lang="en-US" dirty="0"/>
              <a:t>Continue training</a:t>
            </a:r>
          </a:p>
          <a:p>
            <a:r>
              <a:rPr lang="en-US" dirty="0"/>
              <a:t>If the stopping condition becomes true:</a:t>
            </a:r>
          </a:p>
          <a:p>
            <a:r>
              <a:rPr lang="en-US" b="1" dirty="0"/>
              <a:t>STOP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6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D3671-33F3-2A5C-8692-861F64993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– Take a training pair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ADECD-BAFD-32FA-5EE3-AA53A15A3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Algo says to perform Steps 3–5 for each </a:t>
            </a:r>
            <a:r>
              <a:rPr lang="en-US" b="1" dirty="0"/>
              <a:t>bipolar training pair</a:t>
            </a:r>
            <a:r>
              <a:rPr lang="en-US" dirty="0"/>
              <a:t>.</a:t>
            </a:r>
          </a:p>
          <a:p>
            <a:r>
              <a:rPr lang="en-US" dirty="0"/>
              <a:t>A training pair means:</a:t>
            </a:r>
          </a:p>
          <a:p>
            <a:pPr marL="0" indent="0">
              <a:buNone/>
            </a:pPr>
            <a:r>
              <a:rPr lang="en-US" b="1" dirty="0"/>
              <a:t>Input + Target answer</a:t>
            </a:r>
            <a:endParaRPr lang="en-US" dirty="0"/>
          </a:p>
          <a:p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/>
              <a:t>s=(1,−1) 	 and 	t=1 </a:t>
            </a:r>
          </a:p>
          <a:p>
            <a:pPr marL="0" indent="0">
              <a:buNone/>
            </a:pPr>
            <a:r>
              <a:rPr lang="en-US" dirty="0"/>
              <a:t>Here: 	s = input 	t = correct/target answer </a:t>
            </a:r>
          </a:p>
          <a:p>
            <a:pPr marL="0" indent="0">
              <a:buNone/>
            </a:pPr>
            <a:r>
              <a:rPr lang="en-US" b="1" dirty="0"/>
              <a:t>What is bipolar?</a:t>
            </a:r>
          </a:p>
          <a:p>
            <a:r>
              <a:rPr lang="en-US" dirty="0"/>
              <a:t>Bipolar values are:	−1, +1 </a:t>
            </a:r>
          </a:p>
          <a:p>
            <a:r>
              <a:rPr lang="en-US" dirty="0"/>
              <a:t>So an input can be:</a:t>
            </a:r>
          </a:p>
          <a:p>
            <a:pPr marL="0" indent="0">
              <a:buNone/>
            </a:pPr>
            <a:r>
              <a:rPr lang="en-US" dirty="0"/>
              <a:t>X₁ = +1 and X₂ = -1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6678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2D55D-29D4-0F0E-7501-C637096DB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– Set the input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73B8E-3C8E-19FA-9350-F22FD6C3B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Algo gives:</a:t>
            </a:r>
          </a:p>
          <a:p>
            <a:r>
              <a:rPr lang="en-US" dirty="0"/>
              <a:t>xi​=</a:t>
            </a:r>
            <a:r>
              <a:rPr lang="en-US" dirty="0" err="1"/>
              <a:t>si</a:t>
            </a:r>
            <a:r>
              <a:rPr lang="en-US" dirty="0"/>
              <a:t>​ </a:t>
            </a:r>
          </a:p>
          <a:p>
            <a:r>
              <a:rPr lang="en-US" dirty="0"/>
              <a:t>Simple meaning:</a:t>
            </a:r>
          </a:p>
          <a:p>
            <a:pPr marL="0" indent="0">
              <a:buNone/>
            </a:pPr>
            <a:r>
              <a:rPr lang="en-US" dirty="0"/>
              <a:t>Take the input values from the training example and give them to the Adaline.</a:t>
            </a:r>
          </a:p>
          <a:p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/>
              <a:t>s=(1,−1) </a:t>
            </a:r>
          </a:p>
          <a:p>
            <a:r>
              <a:rPr lang="en-US" dirty="0"/>
              <a:t>Then:</a:t>
            </a:r>
          </a:p>
          <a:p>
            <a:pPr marL="0" indent="0">
              <a:buNone/>
            </a:pPr>
            <a:r>
              <a:rPr lang="en-US" dirty="0"/>
              <a:t>X1​=1 		X2​=−1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3672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48551-1D5F-0E2F-6B11-48D002E97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– Calculate the net input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70E524-7489-9D57-2428-11EFB6BEA2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377" y="1272352"/>
            <a:ext cx="5258243" cy="5220523"/>
          </a:xfrm>
        </p:spPr>
      </p:pic>
    </p:spTree>
    <p:extLst>
      <p:ext uri="{BB962C8B-B14F-4D97-AF65-F5344CB8AC3E}">
        <p14:creationId xmlns:p14="http://schemas.microsoft.com/office/powerpoint/2010/main" val="883325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1F2AA-C89D-FF99-9319-95924FD0F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 – Update the weights and bias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E5180-A533-DC3D-4518-E898E1297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textbook gives:</a:t>
            </a:r>
          </a:p>
          <a:p>
            <a:pPr marL="0" indent="0">
              <a:buNone/>
            </a:pPr>
            <a:r>
              <a:rPr lang="en-US" dirty="0"/>
              <a:t>Wi​(new)=Wi​(old)+α(t−Yin​)Xi​ </a:t>
            </a:r>
          </a:p>
          <a:p>
            <a:r>
              <a:rPr lang="en-US" dirty="0"/>
              <a:t>For bias:</a:t>
            </a:r>
          </a:p>
          <a:p>
            <a:pPr marL="0" indent="0">
              <a:buNone/>
            </a:pPr>
            <a:r>
              <a:rPr lang="en-US" dirty="0"/>
              <a:t>b(new)=b(old)+α(t−Yin​) </a:t>
            </a:r>
          </a:p>
          <a:p>
            <a:r>
              <a:rPr lang="en-US" dirty="0"/>
              <a:t>First, we calculate:</a:t>
            </a:r>
          </a:p>
          <a:p>
            <a:pPr marL="0" indent="0">
              <a:buNone/>
            </a:pPr>
            <a:r>
              <a:rPr lang="en-US" dirty="0"/>
              <a:t>t−Yin​ </a:t>
            </a:r>
          </a:p>
          <a:p>
            <a:pPr marL="0" indent="0">
              <a:buNone/>
            </a:pPr>
            <a:r>
              <a:rPr lang="en-US" dirty="0"/>
              <a:t>This is the </a:t>
            </a:r>
            <a:r>
              <a:rPr lang="en-US" b="1" dirty="0"/>
              <a:t>error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279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FA5E4-BA22-F1BD-0646-8B7EB3580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5A784-BB7F-C99E-F681-A405F2C77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Our example:</a:t>
            </a:r>
          </a:p>
          <a:p>
            <a:r>
              <a:rPr lang="en-US" dirty="0"/>
              <a:t>Target:</a:t>
            </a:r>
          </a:p>
          <a:p>
            <a:pPr marL="0" indent="0">
              <a:buNone/>
            </a:pPr>
            <a:r>
              <a:rPr lang="en-US" dirty="0"/>
              <a:t>t=1 </a:t>
            </a:r>
          </a:p>
          <a:p>
            <a:r>
              <a:rPr lang="en-US" dirty="0"/>
              <a:t>Adaline output:</a:t>
            </a:r>
          </a:p>
          <a:p>
            <a:pPr marL="0" indent="0">
              <a:buNone/>
            </a:pPr>
            <a:r>
              <a:rPr lang="en-US" dirty="0"/>
              <a:t>Yin​=0.4 </a:t>
            </a:r>
          </a:p>
          <a:p>
            <a:r>
              <a:rPr lang="en-US" dirty="0"/>
              <a:t>Therefore:</a:t>
            </a:r>
          </a:p>
          <a:p>
            <a:pPr marL="0" indent="0">
              <a:buNone/>
            </a:pPr>
            <a:r>
              <a:rPr lang="en-US" dirty="0"/>
              <a:t>Error=1−0.4  </a:t>
            </a:r>
          </a:p>
          <a:p>
            <a:pPr marL="0" indent="0">
              <a:buNone/>
            </a:pPr>
            <a:r>
              <a:rPr lang="en-US" dirty="0"/>
              <a:t>Error=0.6​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174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9784A-8D97-2001-620A-2E6A2E522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6709E-BE42-F711-C52F-DD4D75228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Update W₁</a:t>
            </a:r>
          </a:p>
          <a:p>
            <a:r>
              <a:rPr lang="en-US" dirty="0"/>
              <a:t>We have:</a:t>
            </a:r>
          </a:p>
          <a:p>
            <a:pPr marL="0" indent="0">
              <a:buNone/>
            </a:pPr>
            <a:r>
              <a:rPr lang="en-US" dirty="0"/>
              <a:t>W1​=0.5 α=0.1 X1​=1 Error=0.6 </a:t>
            </a:r>
          </a:p>
          <a:p>
            <a:pPr marL="0" indent="0">
              <a:buNone/>
            </a:pPr>
            <a:r>
              <a:rPr lang="en-US" dirty="0"/>
              <a:t>So:</a:t>
            </a:r>
          </a:p>
          <a:p>
            <a:pPr marL="0" indent="0">
              <a:buNone/>
            </a:pPr>
            <a:r>
              <a:rPr lang="en-US" dirty="0"/>
              <a:t>W1​(new)=0.5+(0.1)(0.6)(1) =0.56 </a:t>
            </a:r>
          </a:p>
          <a:p>
            <a:pPr marL="0" indent="0">
              <a:buNone/>
            </a:pPr>
            <a:r>
              <a:rPr lang="en-US" dirty="0"/>
              <a:t>Therefore:</a:t>
            </a:r>
          </a:p>
          <a:p>
            <a:pPr marL="0" indent="0">
              <a:buNone/>
            </a:pPr>
            <a:r>
              <a:rPr lang="en-US" dirty="0"/>
              <a:t>W1​(new)=0.56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5323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787FE-91AC-B68F-F442-B86F637BF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050EE-D832-0A5D-61C4-D57818175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Update W₂</a:t>
            </a:r>
          </a:p>
          <a:p>
            <a:r>
              <a:rPr lang="en-US" dirty="0"/>
              <a:t>We have:</a:t>
            </a:r>
          </a:p>
          <a:p>
            <a:pPr marL="0" indent="0">
              <a:buNone/>
            </a:pPr>
            <a:r>
              <a:rPr lang="en-US" dirty="0"/>
              <a:t>W2​=0.2 X2​=−1 </a:t>
            </a:r>
          </a:p>
          <a:p>
            <a:r>
              <a:rPr lang="en-US" dirty="0"/>
              <a:t>So:</a:t>
            </a:r>
          </a:p>
          <a:p>
            <a:pPr marL="0" indent="0">
              <a:buNone/>
            </a:pPr>
            <a:r>
              <a:rPr lang="en-US" dirty="0"/>
              <a:t>W2​(new)=0.2+(0.1)(0.6)(−1) =0.14 </a:t>
            </a:r>
          </a:p>
          <a:p>
            <a:r>
              <a:rPr lang="en-US" dirty="0"/>
              <a:t>Therefore:</a:t>
            </a:r>
          </a:p>
          <a:p>
            <a:pPr marL="0" indent="0">
              <a:buNone/>
            </a:pPr>
            <a:r>
              <a:rPr lang="en-US" dirty="0"/>
              <a:t>W2​(new)=0.14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1146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0180-A10F-D940-8658-0CAD7D8E5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0333C-2232-FFC1-F7A1-D14962C02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Update the bias</a:t>
            </a:r>
          </a:p>
          <a:p>
            <a:r>
              <a:rPr lang="en-US" dirty="0"/>
              <a:t>b(new)=b(old)+α(t−Yin​) =0.1+(0.1)(0.6) b(new)=0.16​ </a:t>
            </a:r>
          </a:p>
          <a:p>
            <a:r>
              <a:rPr lang="en-US" dirty="0"/>
              <a:t>So: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0EF863-176E-AE55-CE35-09038BFC0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339551"/>
              </p:ext>
            </p:extLst>
          </p:nvPr>
        </p:nvGraphicFramePr>
        <p:xfrm>
          <a:off x="838200" y="3269774"/>
          <a:ext cx="4054311" cy="1463040"/>
        </p:xfrm>
        <a:graphic>
          <a:graphicData uri="http://schemas.openxmlformats.org/drawingml/2006/table">
            <a:tbl>
              <a:tblPr/>
              <a:tblGrid>
                <a:gridCol w="1351437">
                  <a:extLst>
                    <a:ext uri="{9D8B030D-6E8A-4147-A177-3AD203B41FA5}">
                      <a16:colId xmlns:a16="http://schemas.microsoft.com/office/drawing/2014/main" val="1493934858"/>
                    </a:ext>
                  </a:extLst>
                </a:gridCol>
                <a:gridCol w="1351437">
                  <a:extLst>
                    <a:ext uri="{9D8B030D-6E8A-4147-A177-3AD203B41FA5}">
                      <a16:colId xmlns:a16="http://schemas.microsoft.com/office/drawing/2014/main" val="2136314665"/>
                    </a:ext>
                  </a:extLst>
                </a:gridCol>
                <a:gridCol w="1351437">
                  <a:extLst>
                    <a:ext uri="{9D8B030D-6E8A-4147-A177-3AD203B41FA5}">
                      <a16:colId xmlns:a16="http://schemas.microsoft.com/office/drawing/2014/main" val="35003147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Before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After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058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0.56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652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0.14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432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0.16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869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223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C8BB3-85B5-7789-F884-64DE42D88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5D4AB-8F5A-8F8F-5F53-A7EFC2512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Adaline is saying:</a:t>
            </a:r>
          </a:p>
          <a:p>
            <a:r>
              <a:rPr lang="en-US" b="1" dirty="0"/>
              <a:t>"My output has some error, so I will change my weights to get a better output next time."</a:t>
            </a:r>
            <a:endParaRPr lang="en-US" dirty="0"/>
          </a:p>
          <a:p>
            <a:r>
              <a:rPr lang="en-US" dirty="0"/>
              <a:t>This is how </a:t>
            </a:r>
            <a:r>
              <a:rPr lang="en-US" b="1" dirty="0"/>
              <a:t>Adaline learns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5936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CF527-3C39-2D44-34F9-E43467031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 – Decide whether to stop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297C8-A882-6C62-4FE6-6E41A5FC4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the highest weight change during training is smaller than the specified tolerance, stop training.</a:t>
            </a:r>
          </a:p>
          <a:p>
            <a:r>
              <a:rPr lang="en-US" dirty="0"/>
              <a:t>Simple meaning:</a:t>
            </a:r>
          </a:p>
          <a:p>
            <a:pPr marL="0" indent="0">
              <a:buNone/>
            </a:pPr>
            <a:r>
              <a:rPr lang="en-US" dirty="0"/>
              <a:t>We check how much the weights are changing.</a:t>
            </a:r>
          </a:p>
          <a:p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/>
              <a:t>Round 1 → Weight change = 0.06</a:t>
            </a:r>
          </a:p>
          <a:p>
            <a:pPr marL="0" indent="0">
              <a:buNone/>
            </a:pPr>
            <a:r>
              <a:rPr lang="en-US" dirty="0"/>
              <a:t>Round 2 → Weight change = 0.02</a:t>
            </a:r>
          </a:p>
          <a:p>
            <a:pPr marL="0" indent="0">
              <a:buNone/>
            </a:pPr>
            <a:r>
              <a:rPr lang="en-US" dirty="0"/>
              <a:t>Round 3 → Weight change = 0.005</a:t>
            </a:r>
          </a:p>
          <a:p>
            <a:pPr marL="0" indent="0">
              <a:buNone/>
            </a:pPr>
            <a:r>
              <a:rPr lang="en-US" dirty="0"/>
              <a:t>Round 4 → Weight change = 0.0005</a:t>
            </a:r>
          </a:p>
          <a:p>
            <a:pPr marL="0" indent="0">
              <a:buNone/>
            </a:pPr>
            <a:r>
              <a:rPr lang="en-US" dirty="0"/>
              <a:t>Suppose the tolerance is:</a:t>
            </a:r>
          </a:p>
          <a:p>
            <a:pPr marL="0" indent="0">
              <a:buNone/>
            </a:pPr>
            <a:r>
              <a:rPr lang="en-US" dirty="0"/>
              <a:t>0.001 </a:t>
            </a:r>
          </a:p>
          <a:p>
            <a:pPr marL="0" indent="0">
              <a:buNone/>
            </a:pPr>
            <a:r>
              <a:rPr lang="en-US" dirty="0"/>
              <a:t>Now:</a:t>
            </a:r>
          </a:p>
          <a:p>
            <a:pPr marL="0" indent="0">
              <a:buNone/>
            </a:pPr>
            <a:r>
              <a:rPr lang="en-US" dirty="0"/>
              <a:t>0.0005&lt;0.001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1927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A9979-3120-09B6-585A-5EA2ED696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AFFD8-1D5E-A1E3-4349-C48DC7570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So:</a:t>
            </a:r>
          </a:p>
          <a:p>
            <a:r>
              <a:rPr lang="en-US" b="1" dirty="0"/>
              <a:t>✅ STOP TRAINING</a:t>
            </a:r>
          </a:p>
          <a:p>
            <a:pPr marL="0" indent="0">
              <a:buNone/>
            </a:pPr>
            <a:r>
              <a:rPr lang="en-US" dirty="0"/>
              <a:t>But if the weight change is:</a:t>
            </a:r>
          </a:p>
          <a:p>
            <a:r>
              <a:rPr lang="en-US" dirty="0"/>
              <a:t>0.05 </a:t>
            </a:r>
          </a:p>
          <a:p>
            <a:pPr marL="0" indent="0">
              <a:buNone/>
            </a:pPr>
            <a:r>
              <a:rPr lang="en-US" dirty="0"/>
              <a:t>then:</a:t>
            </a:r>
          </a:p>
          <a:p>
            <a:r>
              <a:rPr lang="en-US" dirty="0"/>
              <a:t>0.05&gt;0.001 </a:t>
            </a:r>
          </a:p>
          <a:p>
            <a:pPr marL="0" indent="0">
              <a:buNone/>
            </a:pPr>
            <a:r>
              <a:rPr lang="en-US" b="1" dirty="0"/>
              <a:t>❌ Do not stop</a:t>
            </a:r>
          </a:p>
          <a:p>
            <a:r>
              <a:rPr lang="en-US" dirty="0"/>
              <a:t>Continue training.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5873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724</Words>
  <Application>Microsoft Office PowerPoint</Application>
  <PresentationFormat>Widescreen</PresentationFormat>
  <Paragraphs>120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Adaline = Adaptive Linear Neuron</vt:lpstr>
      <vt:lpstr>Adaline Training Algorithm</vt:lpstr>
      <vt:lpstr>PowerPoint Presentation</vt:lpstr>
      <vt:lpstr>Step 1 – Check the stopping condition</vt:lpstr>
      <vt:lpstr>Step 2 – Take a training pair</vt:lpstr>
      <vt:lpstr>Step 3 – Set the input</vt:lpstr>
      <vt:lpstr>Step 4 – Calculate the net input </vt:lpstr>
      <vt:lpstr>Step 5 – Update the weights and bias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 6 – Decide whether to stop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Amruthavarshini R</dc:creator>
  <cp:lastModifiedBy>Amruthavarshini R</cp:lastModifiedBy>
  <cp:revision>8</cp:revision>
  <dcterms:created xsi:type="dcterms:W3CDTF">2026-08-17T16:44:16Z</dcterms:created>
  <dcterms:modified xsi:type="dcterms:W3CDTF">2026-08-17T17:02:31Z</dcterms:modified>
</cp:coreProperties>
</file>